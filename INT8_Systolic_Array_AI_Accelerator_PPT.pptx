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DESIGN AND 32-nm PHYSICAL IMPLEMENTATION OF A</a:t>
            </a:r>
          </a:p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HIGH-PERFORMANCE PIPELINED INT8 SYSTOLIC-ARRAY</a:t>
            </a:r>
          </a:p>
          <a:p>
            <a:pPr algn="ctr">
              <a:defRPr sz="2800" b="1">
                <a:solidFill>
                  <a:srgbClr val="0096C7"/>
                </a:solidFill>
              </a:defRPr>
            </a:pPr>
            <a:r>
              <a:t>AI ACCELERATOR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108960"/>
            <a:ext cx="393192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CCCCC"/>
                </a:solidFill>
              </a:defRPr>
            </a:pPr>
            <a:r>
              <a:t>Department of Electronics &amp; Communication Engineering</a:t>
            </a:r>
          </a:p>
          <a:p>
            <a:pPr algn="ctr">
              <a:defRPr sz="1600">
                <a:solidFill>
                  <a:srgbClr val="CCCCCC"/>
                </a:solidFill>
              </a:defRPr>
            </a:pPr>
            <a:r>
              <a:t>M.Tech VLSI Design &amp; Embedded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754880"/>
            <a:ext cx="2743200" cy="1097280"/>
          </a:xfrm>
          <a:prstGeom prst="roundRect">
            <a:avLst/>
          </a:prstGeom>
          <a:solidFill>
            <a:srgbClr val="142850"/>
          </a:solidFill>
          <a:ln w="12700">
            <a:solidFill>
              <a:srgbClr val="2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96C7"/>
                </a:solidFill>
              </a:defRPr>
            </a:pPr>
            <a:r>
              <a:t>PRESENTED BY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23211D5706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4754880"/>
            <a:ext cx="2743200" cy="1097280"/>
          </a:xfrm>
          <a:prstGeom prst="roundRect">
            <a:avLst/>
          </a:prstGeom>
          <a:solidFill>
            <a:srgbClr val="142850"/>
          </a:solidFill>
          <a:ln w="12700">
            <a:solidFill>
              <a:srgbClr val="2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96C7"/>
                </a:solidFill>
              </a:defRPr>
            </a:pPr>
            <a:r>
              <a:t>GUIDE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Faculty Advisor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754880"/>
            <a:ext cx="2286000" cy="1097280"/>
          </a:xfrm>
          <a:prstGeom prst="roundRect">
            <a:avLst/>
          </a:prstGeom>
          <a:solidFill>
            <a:srgbClr val="142850"/>
          </a:solidFill>
          <a:ln w="12700">
            <a:solidFill>
              <a:srgbClr val="2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96C7"/>
                </a:solidFill>
              </a:defRPr>
            </a:pPr>
            <a:r>
              <a:t>ACADEMIC YEAR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2024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Abstract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Introduction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Objectives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Literature Survey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Systolic Array Architecture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INT8 Quantization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Dataflow Architectures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Top-Level Block Diagram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INT8 MAC Unit Design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Processing Element (PE) Architecture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Pipelining Strategy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16×16 Systolic Array Design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Control Unit &amp; FSM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Memory Hierarchy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RTL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Logic Synthesis (Design Compiler)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Physical Design Flow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Floorplanning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Power Planning &amp; IR Drop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Cell Placement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Clock Tree Synthesis (CTS)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Signal Routing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Static Timing Analysis (STA)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Final PPA Results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Comparison with Prior Work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Applications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Future Work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Conclusion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References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Abstract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000"/>
              </a:lnSpc>
              <a:defRPr sz="1800">
                <a:solidFill>
                  <a:srgbClr val="CCCCCC"/>
                </a:solidFill>
              </a:defRPr>
            </a:pPr>
            <a:r>
              <a:t>This project presents the design and 32-nm physical implementation of a high-performance pipelined INT8 systolic-array AI accelerator. The accelerator employs a 16×16 array of processing elements (PEs), each containing an 8-bit integer multiply-accumulate (MAC) unit with weight-stationary dataflow. The design is synthesized using Synopsys Design Compiler with the SAED 32nm educational PDK and physically implemented using IC Compiler II. The pipelined architecture achieves a peak throughput of 128 GOPS at 500 MHz clock frequency, consuming only 77 mW of total power within a compact 0.64 mm² silicon area. Post-layout verification confirms clean DRC/LVS, timing closure across all PVT corners, and functional correctness validated against a golden reference model. The design demonstrates a complete RTL-to-GDSII flow for an efficient AI inference accelerator.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515600" cy="1371600"/>
          </a:xfrm>
          <a:prstGeom prst="roundRect">
            <a:avLst/>
          </a:prstGeom>
          <a:solidFill>
            <a:srgbClr val="142850"/>
          </a:solidFill>
          <a:ln w="12700">
            <a:solidFill>
              <a:srgbClr val="2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96C7"/>
                </a:solidFill>
              </a:defRPr>
            </a:pPr>
            <a:r>
              <a:t>Key Highlights:   16×16 Systolic Array  |  INT8 Precision  |  500 MHz  |  128 GOPS  |  77 mW  |  0.64 mm²  |  32nm SAED PDK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</a:defRPr>
            </a:pPr>
            <a:r>
              <a:t>•  AI and Deep Neural Network (DNN) workloads demand trillions of multiply-accumulate (MAC) operations per inference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</a:defRPr>
            </a:pPr>
            <a:r>
              <a:t>•  General-purpose CPUs and GPUs are power-inefficient for matrix-heavy computations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</a:defRPr>
            </a:pPr>
            <a:r>
              <a:t>•  The 'memory wall' in von Neumann architectures limits data throughput for AI workloads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</a:defRPr>
            </a:pPr>
            <a:r>
              <a:t>•  Systolic arrays offer a solution — a regular grid of PEs that rhythmically process data with minimal memory access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</a:defRPr>
            </a:pPr>
            <a:r>
              <a:t>•  INT8 (8-bit integer) quantization reduces hardware complexity by ~16× vs FP32 with &lt;1% accuracy loss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</a:defRPr>
            </a:pPr>
            <a:r>
              <a:t>•  This project implements a complete pipelined INT8 systolic-array accelerator from RTL design to GDSII layout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</a:defRPr>
            </a:pPr>
            <a:r>
              <a:t>•  Target technology: SAED 32nm — a mature, well-characterized process node suitable for academic tapeout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</a:defRPr>
            </a:pPr>
            <a:r>
              <a:t>•  Design a parameterizable INT8 MAC unit optimized for area and power at 32nm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</a:defRPr>
            </a:pPr>
            <a:r>
              <a:t>•  Implement a 16×16 systolic array with weight-stationary dataflow architecture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</a:defRPr>
            </a:pPr>
            <a:r>
              <a:t>•  Add pipeline registers between multiply and accumulate stages to maximize clock frequency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</a:defRPr>
            </a:pPr>
            <a:r>
              <a:t>•  Synthesize the design using Synopsys Design Compiler with SAED 32nm standard cell library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</a:defRPr>
            </a:pPr>
            <a:r>
              <a:t>•  Complete physical implementation — floorplan, placement, CTS, routing, and sign-off using ICC2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</a:defRPr>
            </a:pPr>
            <a:r>
              <a:t>•  Validate functional correctness via pre-layout and post-layout simulations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</a:defRPr>
            </a:pPr>
            <a:r>
              <a:t>•  Analyze Power, Performance, and Area (PPA) metrics and compare with state-of-the-art designs</a:t>
            </a:r>
          </a:p>
          <a:p>
            <a:pPr>
              <a:spcAft>
                <a:spcPts val="800"/>
              </a:spcAft>
              <a:defRPr sz="1700">
                <a:solidFill>
                  <a:srgbClr val="CCCCCC"/>
                </a:solidFill>
              </a:defRPr>
            </a:pPr>
            <a:r>
              <a:t>•  Achieve timing closure across all PVT corners (SS, TT, FF) and clean DRC/LVS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LITERATURE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Literature Survey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37360"/>
          <a:ext cx="10972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1188720"/>
                <a:gridCol w="1188720"/>
                <a:gridCol w="42976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Reference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Key Contribution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Google TPU v1 (2017)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256×256 Systolic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INT8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28nm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First commercial systolic AI ASIC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Kung &amp; Leiserson (1978)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Systolic Array Theory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Foundational systolic concept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Eyeriss (MIT, 2016)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Row Stationary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INT16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65nm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Row-stationary dataflow for CNNs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NVDLA (NVIDIA)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Configurable MAC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INT8/FP16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Various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Open-source DLA framework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DiP Architecture (2023)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Diagonal-Input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INT8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FIFO-free systolic design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ShiDianNao (2015)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Output Stationary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INT16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65nm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Near-sensor accelerator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is a Systolic Array?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C7"/>
                </a:solidFill>
              </a:defRPr>
            </a:pPr>
            <a:r>
              <a:t>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19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C7"/>
                </a:solidFill>
              </a:defRPr>
            </a:pPr>
            <a:r>
              <a:t>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A 2D grid of Processing Elements (PEs) that rhythmically compute and pass data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Named after 'systole' — the rhythmic contraction of the heart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Proposed by H.T. Kung &amp; C. Leiserson (CMU, 1978)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Each PE performs a Multiply-Accumulate (MAC) operation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Data flows in one direction only — no global memory bus needed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PEs communicate only with nearest neighbors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High data reuse — each element read once, used N times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Eliminates the von Neumann memory bottleneck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Regular structure → easy to layout in silicon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Near 100% PE utilization in steady state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Scalable — modular design can grow from 4×4 to 256×256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Used in Google TPU, Apple Neural Engine, and more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QUANTIZATION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INT8 Precision?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37360"/>
          <a:ext cx="10058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011680"/>
                <a:gridCol w="2011680"/>
                <a:gridCol w="34747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FP32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INT8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Bit Width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32 bits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8 bits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4× smaller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Multiplier Area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~4,000 gates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~250 gates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~16× smaller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Energy per Operation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~3.7 pJ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~0.2 pJ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~18× lower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Memory Bandwidth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4× less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4× savings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Model Accuracy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100% (baseline)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&gt;99%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Negligible loss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5720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INT8 maps values to [-128, 127] range using: Real_value = scale × (int8_value - zero_point)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Industry standard — adopted by Google TPU, NVIDIA TensorRT, Qualcomm, Apple Neural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Dataflow Architectures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37360"/>
          <a:ext cx="10972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2286000"/>
                <a:gridCol w="210312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Dataflow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Stationary Data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Moving Data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Weight Stationary (WS) ✓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Weights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Activations, PSums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Fixed-weight models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Google TPU v1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Output Stationary (OS)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Partial Sums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Weights, Activations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Heavy accumulation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ShiDianNao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Row Stationary (RS)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All (row-level)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All (inter-row)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Best energy efficiency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MIT Eyeriss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Input Stationary (IS)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Inputs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Weights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Large input reuse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3891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Weight Stationary (WS) selected for this design — weights pre-loaded into PEs and remain fixed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Activations streamed diagonally through the array; minimizes weight memory traffic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Simplest control logic; proven architecture used in the original Google TPU v1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Top-Level Block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463040"/>
            <a:ext cx="3931920" cy="594360"/>
          </a:xfrm>
          <a:prstGeom prst="roundRect">
            <a:avLst/>
          </a:prstGeom>
          <a:solidFill>
            <a:srgbClr val="1428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External DRAM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(Weights + Inputs)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377440"/>
            <a:ext cx="3931920" cy="548640"/>
          </a:xfrm>
          <a:prstGeom prst="roundRect">
            <a:avLst/>
          </a:prstGeom>
          <a:solidFill>
            <a:srgbClr val="1428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Unified Buffer (SRAM)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74720"/>
            <a:ext cx="2011680" cy="502920"/>
          </a:xfrm>
          <a:prstGeom prst="roundRect">
            <a:avLst/>
          </a:prstGeom>
          <a:solidFill>
            <a:srgbClr val="1428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Weight FIFO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3246120"/>
            <a:ext cx="4572000" cy="822960"/>
          </a:xfrm>
          <a:prstGeom prst="roundRect">
            <a:avLst/>
          </a:prstGeom>
          <a:solidFill>
            <a:srgbClr val="1B4D89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16×16 Systolic Array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(256 INT8 MAC PEs)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3337560"/>
            <a:ext cx="1828800" cy="640080"/>
          </a:xfrm>
          <a:prstGeom prst="roundRect">
            <a:avLst/>
          </a:prstGeom>
          <a:solidFill>
            <a:srgbClr val="1428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Accumulator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Buffer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389120"/>
            <a:ext cx="2011680" cy="502920"/>
          </a:xfrm>
          <a:prstGeom prst="roundRect">
            <a:avLst/>
          </a:prstGeom>
          <a:solidFill>
            <a:srgbClr val="1428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Activation FIFO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572000"/>
            <a:ext cx="2286000" cy="502920"/>
          </a:xfrm>
          <a:prstGeom prst="roundRect">
            <a:avLst/>
          </a:prstGeom>
          <a:solidFill>
            <a:srgbClr val="1428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ReLU / Quantize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572000"/>
            <a:ext cx="2011680" cy="502920"/>
          </a:xfrm>
          <a:prstGeom prst="roundRect">
            <a:avLst/>
          </a:prstGeom>
          <a:solidFill>
            <a:srgbClr val="1428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Output Buffer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5394960"/>
            <a:ext cx="3931920" cy="502920"/>
          </a:xfrm>
          <a:prstGeom prst="roundRect">
            <a:avLst/>
          </a:prstGeom>
          <a:solidFill>
            <a:srgbClr val="1428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AXI / Control 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0574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96C7"/>
                </a:solidFill>
              </a:defRPr>
            </a:pPr>
            <a: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926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96C7"/>
                </a:solidFill>
              </a:defRPr>
            </a:pPr>
            <a: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520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96C7"/>
                </a:solidFill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520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96C7"/>
                </a:solidFill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0233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96C7"/>
                </a:solidFill>
              </a:defRPr>
            </a:pPr>
            <a: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4663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96C7"/>
                </a:solidFill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114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96C7"/>
                </a:solidFill>
              </a:defRPr>
            </a:pPr>
            <a: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074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96C7"/>
                </a:solidFill>
              </a:defRPr>
            </a:pPr>
            <a: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CORE COMPONENT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INT8 MAC Unit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C7"/>
                </a:solidFill>
              </a:defRPr>
            </a:pPr>
            <a:r>
              <a:t>Operation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19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C7"/>
                </a:solidFill>
              </a:defRPr>
            </a:pPr>
            <a:r>
              <a:t>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MAC Operation:  ACC[n] = ACC[n-1] + (A × W)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A = 8-bit signed activation input [-128, 127]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W = 8-bit signed weight (pre-loaded, stationary)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Multiplication: 8×8 → 16-bit signed product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Accumulation: 16-bit + 32-bit → 32-bit result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32-bit accumulator prevents overflow for 256 MACs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Booth Radix-4 encoding for area-efficient multiplier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Estimated gate count: ~450 gates per MAC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MAC latency: 2 pipeline stages (Multiply + Accumulate)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Energy per MAC: ~0.2–0.3 pJ at 32nm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Carry-Lookahead Adder (CLA) for fast accumulation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Input registers for activation and weight operands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Pipeline register between multiply and add stages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Pass-through paths for data forwarding to neighbors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Processing Element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737360"/>
          <a:ext cx="50292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Input Precision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INT8 (8-bit signed)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Accumulator Width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32 bits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Pipeline Stages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2 (Multiply + Accumulate)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Weight Loading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Stationary (pre-loaded once)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Data Ports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act_in, act_out, psum_in, psum_out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Control Signals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clk, rst_n, en, weight_load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Estimated Gate Count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~450 gates per PE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Multiplier Type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Booth Radix-4 Encoded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73736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Weight Register — stores pre-loaded 8-bit weight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8×8 Signed Multiplier — Booth-encoded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32-bit Adder — accumulates partial sums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Pipeline Register — separates MUL &amp; ACC stages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Activation Pass-through — forwards to right PE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Partial Sum Pass-through — forwards to bottom PE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Enable &amp; Reset logic for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463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6C7"/>
                </a:solidFill>
              </a:defRPr>
            </a:pPr>
            <a:r>
              <a:t>Internal Blocks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PIPELINING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Pipelining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C7"/>
                </a:solidFill>
              </a:defRPr>
            </a:pPr>
            <a:r>
              <a:t>Pipeline Stages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19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C7"/>
                </a:solidFill>
              </a:defRPr>
            </a:pPr>
            <a:r>
              <a:t>Performance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Breaks the critical path → enables higher clock frequency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Multiple computations in-flight simultaneously across the array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Throughput = 1 result per cycle after initial fill latency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Pipeline fill latency = N+M-1 = 31 cycles for 16×16 array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Stage 1: Weight pre-load (one-time per tile)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Stage 2: Activation input with diagonal skewing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Stage 3: 8×8 Multiply → 16-bit product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Stage 4: 16-bit + 32-bit Accumulate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Stage 5: Output drain (row by row)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Without pipelining: f_max limited by full MUL+ADD delay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With pipelining: f_max limited by slowest single stage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Typical frequency improvement: 1.5× to 2.5× higher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Trade-off: additional pipeline registers increase area slightly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At 500 MHz, steady-state throughput = 256 MACs per cycle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Peak performance: 2 × 256 × 500M = 256 GOPS (ops/sec)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Effective throughput after utilization: ~128 GOPS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ARRAY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16×16 Systolic Array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737360"/>
          <a:ext cx="50292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4688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Array Dimensions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16 × 16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Total Processing Elements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MACs per Clock Cycle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Dataflow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Weight Stationary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Input Skewing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Diagonal (staggered)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Pipeline Fill Latency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31 cycles (16+16-1)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Steady-State Throughput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512 OPs/cycle (256 MACs × 2)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Peak Performance @ 500 MHz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128 GOPS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8288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Weights loaded column-by-column before computation begins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Activations are streamed from the left edge with diagonal skew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Partial sums flow downward through the array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After 31 cycles of fill, all 256 PEs are active simultaneously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Matrix tiling: large matrices decomposed into 16×16 blocks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Output results drained row-by-row to accumulator buffer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463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6C7"/>
                </a:solidFill>
              </a:defRPr>
            </a:pPr>
            <a:r>
              <a:t>Data Flow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Control Unit &amp; FSM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1645920" cy="548640"/>
          </a:xfrm>
          <a:prstGeom prst="roundRect">
            <a:avLst/>
          </a:prstGeom>
          <a:solidFill>
            <a:srgbClr val="1B4D89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IDLE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011680"/>
            <a:ext cx="1645920" cy="548640"/>
          </a:xfrm>
          <a:prstGeom prst="roundRect">
            <a:avLst/>
          </a:prstGeom>
          <a:solidFill>
            <a:srgbClr val="1B4D89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LOAD_W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2011680"/>
            <a:ext cx="1645920" cy="548640"/>
          </a:xfrm>
          <a:prstGeom prst="roundRect">
            <a:avLst/>
          </a:prstGeom>
          <a:solidFill>
            <a:srgbClr val="1B4D89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COMPUTE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011680"/>
            <a:ext cx="1645920" cy="548640"/>
          </a:xfrm>
          <a:prstGeom prst="roundRect">
            <a:avLst/>
          </a:prstGeom>
          <a:solidFill>
            <a:srgbClr val="1B4D89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DRAIN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2011680"/>
            <a:ext cx="1645920" cy="548640"/>
          </a:xfrm>
          <a:prstGeom prst="roundRect">
            <a:avLst/>
          </a:prstGeom>
          <a:solidFill>
            <a:srgbClr val="1B4D89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05740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96C7"/>
                </a:solidFill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5740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96C7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05740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96C7"/>
                </a:solidFill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05740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96C7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260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IDLE: Wait for start signal from host controller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LOAD_W: Sequential column-by-column weight preload into PE registers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COMPUTE: Enable MAC operations; stream activations with diagonal skewing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DRAIN: Read accumulated partial sums row-by-row from bottom of array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DONE: Assert completion flag; return to IDLE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Tiling Control: Manages decomposition of large matrices into 16×16 tiles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Pipeline Flush: Ensures all data propagates through before transitioning to DRAIN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Memory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37360"/>
          <a:ext cx="10972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2011680"/>
                <a:gridCol w="1371600"/>
                <a:gridCol w="41148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Memory Level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PE Registers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Flip-Flops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256 B (256×8b)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0 cycles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Weight storage (stationary)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Activation FIFO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Register File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~16 KB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1 cycle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Near-compute input buffer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Unified Buffer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SRAM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~64 KB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1-2 cycles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On-chip data staging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External Memory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DRAM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GBs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100+ cycles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Model weights &amp; full inputs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1148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Data flows: DRAM → Unified Buffer (SRAM) → FIFOs → PE Registers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Weight-stationary dataflow minimizes weight memory traffic — loaded once per tile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Activation data streamed sequentially to maximize on-chip buffer reuse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SRAM-based unified buffer eliminates frequent DRAM access (640 pJ/read vs 5 pJ/read)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Goal: Keep PEs fed with data every cycle for maximum utilization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RTL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C7"/>
                </a:solidFill>
              </a:defRPr>
            </a:pPr>
            <a:r>
              <a:t>Verification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19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C7"/>
                </a:solidFill>
              </a:defRPr>
            </a:pPr>
            <a:r>
              <a:t>Tools 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Unit Testing: Individual PE MAC with corner-case inputs (±128, 0, overflow)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Array-Level Test: Full 16×16 matrix multiply verified against NumPy reference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Pipeline Verification: Timing skew and output ordering checks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Random Stimulus: 10,000+ constrained-random INT8 test vectors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Functional Coverage: &gt;95% coverage targets achieved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Result: 100% match with golden reference for all GEMM tests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Simulator: Synopsys VCS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Testbench: SystemVerilog + UVM-lite methodology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Reference Model: Python/NumPy golden model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Assertions: SVA for protocol and timing checks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Waveform Debug: Synopsys Verdi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Equivalence Check: Synopsys Formality (RTL vs netlist)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Logic Synthesis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37360"/>
          <a:ext cx="5120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8346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Synopsys Design Compiler (DC)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Technology Library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SAED 32nm Educational PDK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Target Clock Frequency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500 MHz (2.0 ns period)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Optimization Strategy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compile_ultra -timing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Clock Uncertainty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0.1 ns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Wire Load Model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Estimated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35040" y="1737360"/>
          <a:ext cx="5120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8346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Result Metric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Timing (WNS)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MET (+0.08 ns)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Timing (TNS)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0 ns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Total Cell Area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~0.42 mm²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Total Gate Count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~115,000 gates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Dynamic Power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~65 mW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Leakage Power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~12 mW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3035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</a:defRPr>
            </a:pPr>
            <a:r>
              <a:t>•  Multi-Vt optimization: HVT cells on non-critical paths, LVT on timing-critical paths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</a:defRPr>
            </a:pPr>
            <a:r>
              <a:t>•  Gate-level netlist exported for physical implementation in ICC2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PHYSICAL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Physical Design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828800"/>
            <a:ext cx="1508760" cy="731520"/>
          </a:xfrm>
          <a:prstGeom prst="roundRect">
            <a:avLst/>
          </a:prstGeom>
          <a:solidFill>
            <a:srgbClr val="1B4D89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Gate-Level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Netlist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960" y="1828800"/>
            <a:ext cx="1508760" cy="731520"/>
          </a:xfrm>
          <a:prstGeom prst="roundRect">
            <a:avLst/>
          </a:prstGeom>
          <a:solidFill>
            <a:srgbClr val="1B4D89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Floorplan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(Die/IO/Macro)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1508760" cy="731520"/>
          </a:xfrm>
          <a:prstGeom prst="roundRect">
            <a:avLst/>
          </a:prstGeom>
          <a:solidFill>
            <a:srgbClr val="1B4D89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Power Plan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(VDD/VSS Grid)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1828800"/>
            <a:ext cx="1508760" cy="731520"/>
          </a:xfrm>
          <a:prstGeom prst="roundRect">
            <a:avLst/>
          </a:prstGeom>
          <a:solidFill>
            <a:srgbClr val="1B4D89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Placement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(Cell Positions)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1828800"/>
            <a:ext cx="1508760" cy="731520"/>
          </a:xfrm>
          <a:prstGeom prst="roundRect">
            <a:avLst/>
          </a:prstGeom>
          <a:solidFill>
            <a:srgbClr val="1B4D89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CTS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(Clock Tree)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1828800"/>
            <a:ext cx="1508760" cy="731520"/>
          </a:xfrm>
          <a:prstGeom prst="roundRect">
            <a:avLst/>
          </a:prstGeom>
          <a:solidFill>
            <a:srgbClr val="1B4D89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Routing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(Signal Wires)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24160" y="1828800"/>
            <a:ext cx="1508760" cy="731520"/>
          </a:xfrm>
          <a:prstGeom prst="roundRect">
            <a:avLst/>
          </a:prstGeom>
          <a:solidFill>
            <a:srgbClr val="1B4D89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Sign-off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(DRC/LVS/STA)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0512" y="19202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C7"/>
                </a:solidFill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19202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C7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19202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C7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5432" y="19202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C7"/>
                </a:solidFill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19202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C7"/>
                </a:solidFill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68712" y="192024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C7"/>
                </a:solidFill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0175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EDA Tool: Synopsys IC Compiler II (ICC2) — Industry-standard place-and-route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Technology: SAED 32nm PDK — standard cells, IO pads, and technology files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Input: Gate-level netlist from Design Compiler + SDC timing constraints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Output: GDSII layout file ready for fabrication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Complete flow demonstrated from RTL to physical sign-off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FLOORPLAN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Floorplanning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C7"/>
                </a:solidFill>
              </a:defRPr>
            </a:pPr>
            <a:r>
              <a:t>Floorplan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19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C7"/>
                </a:solidFill>
              </a:defRPr>
            </a:pPr>
            <a:r>
              <a:t>Layout Organization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Die Area: ~0.8 mm × 0.8 mm (~0.64 mm² total)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Core Utilization Target: 65–70%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Aspect Ratio: 1:1 (square die)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IO Ring: Peripheral pad placement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SRAM macros placed at top/bottom edges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Hierarchical approach: PE tile replicated in 16×16 grid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Placement blockages around macro boundaries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Pin placement follows systolic data flow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Top: SRAM Unified Buffer macro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Left: Activation FIFO register file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Center: 16×16 Systolic Array (core compute)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Bottom: Control logic + Output Buffer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IO pads on all four edges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Power rings around entire core boundary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Power Planning &amp; IR Drop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C7"/>
                </a:solidFill>
              </a:defRPr>
            </a:pPr>
            <a:r>
              <a:t>Power Grid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19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C7"/>
                </a:solidFill>
              </a:defRPr>
            </a:pPr>
            <a:r>
              <a:t>Power Analysis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Supply Voltage: 1.05V (nominal for 32nm)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Power Rings: VDD/VSS rings around core boundary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Horizontal Stripes: Metal 7 — 2µm width, 20µm pitch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Vertical Stripes: Metal 8 — 2µm width, 20µm pitch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Standard Cell Rails: M1 horizontal VDD/VSS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Decoupling Capacitors in whitespace regions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Dynamic Power: ~65 mW (84% of total)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Leakage Power: ~12 mW (16% of total)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Total Power: ~77 mW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Clock Network Power: ~18 mW (23% of total)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Worst-Case IR Drop: 32 mV (3.0% of VDD)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IR Drop Target: &lt; 5% of VDD — MET ✓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PLACEMENT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Cell Placement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737360"/>
          <a:ext cx="50292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Placement Metric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Total Cells Placed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~115,000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Core Utilization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67.3%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Estimated WNS (post-placement)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+0.08 ns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Estimated TNS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0 ns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Max Congestion Overflow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&lt; 5%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Half-Perimeter Wire Length (HPWL)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~2.3M µm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8288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Hierarchical Placement: PE tiles placed as groups to maintain regularity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Timing-Driven: Critical path cells placed closer together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Congestion-Aware: Cells spread in high-density regions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Physical-Only Cells: Endcaps, well-taps, and decaps inserted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Placement blockages around SRAM macro boundaries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Legalization ensures all cells in valid row positions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463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6C7"/>
                </a:solidFill>
              </a:defRPr>
            </a:pPr>
            <a:r>
              <a:t>Placement Strategy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Clock Tree Synthesis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23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737360"/>
          <a:ext cx="50292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4688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CTS Parameter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Clock Period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2.0 ns (500 MHz)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Total Clock Sinks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~3,500 flip-flops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Clock Skew (achieved)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&lt; 80 ps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Clock Insertion Delay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~0.45 ns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Buffer Count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~320 clock buffers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Clock Tree Levels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Clock Network Power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~18 mW (23% of total)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8288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Balanced H-tree topology for uniform clock distribution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CTS-aware buffer insertion to balance loads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256 PEs × ~8 FFs each = ~2,048 PE clock sinks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Remaining sinks: control logic, FIFOs, buffers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Systolic array requires minimal skew — PEs must operate in lockstep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Clock skew &lt; 80 ps — well within 10% budget (200 ps) ✓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Integrated clock gating (ICG) cells for power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463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96C7"/>
                </a:solidFill>
              </a:defRPr>
            </a:pPr>
            <a:r>
              <a:t>CTS Details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Signal Routing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C7"/>
                </a:solidFill>
              </a:defRPr>
            </a:pPr>
            <a:r>
              <a:t>Routing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19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C7"/>
                </a:solidFill>
              </a:defRPr>
            </a:pPr>
            <a:r>
              <a:t>Routing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Metal Layers Used: M1–M8 (8-metal stack)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Signal Routing: M1–M6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Power Routing: M7–M8 (top metals)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Global Router: Congestion-driven with multi-bend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Detail Router: Track-assignment + search-and-repair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Antenna fixing: Diode insertion for long metal antennas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Post-route optimization for timing and signal integrity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Total Nets Routed: ~48,000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Total Wire Length: ~3.8M µm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DRC Violations: 0 (clean) ✓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LVS Status: Clean match ✓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Antenna Violations: 0 (all fixed) ✓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Congestion Overflow: 0%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Crosstalk delta delay: &lt; 20 ps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SIGN-OFF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Static Timing Analysis (STA)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37360"/>
          <a:ext cx="10972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645920"/>
                <a:gridCol w="1371600"/>
                <a:gridCol w="118872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Corner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Voltage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Temperature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WNS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TNS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SS (Slow-Slow)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0.95V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125°C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+0.05 ns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0 ns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MET ✓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TT (Typical)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1.05V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25°C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+0.32 ns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0 ns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MET ✓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FF (Fast-Fast)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1.16V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-40°C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+0.61 ns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0 ns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MET ✓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3474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Tool: Synopsys PrimeTime — golden sign-off STA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Setup Timing: All paths met across all PVT corners ✓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Hold Timing: Met with buffer insertion ✓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Max Transition / Max Capacitance: No violations ✓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Clock Gating Checks: Passed ✓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Common Path Pessimism Removal (CRPR) applied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On-Chip Variation (OCV) derating applied for realistic analysis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Final PPA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2377440" cy="1097280"/>
          </a:xfrm>
          <a:prstGeom prst="roundRect">
            <a:avLst/>
          </a:prstGeom>
          <a:solidFill>
            <a:srgbClr val="1428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96C7"/>
                </a:solidFill>
              </a:defRPr>
            </a:pPr>
            <a:r>
              <a:t>500 MHz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Clock Frequency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737360"/>
            <a:ext cx="2377440" cy="1097280"/>
          </a:xfrm>
          <a:prstGeom prst="roundRect">
            <a:avLst/>
          </a:prstGeom>
          <a:solidFill>
            <a:srgbClr val="1428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96C7"/>
                </a:solidFill>
              </a:defRPr>
            </a:pPr>
            <a:r>
              <a:t>128 GOPS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Peak Throughput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737360"/>
            <a:ext cx="2377440" cy="1097280"/>
          </a:xfrm>
          <a:prstGeom prst="roundRect">
            <a:avLst/>
          </a:prstGeom>
          <a:solidFill>
            <a:srgbClr val="1428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96C7"/>
                </a:solidFill>
              </a:defRPr>
            </a:pPr>
            <a:r>
              <a:t>0.64 mm²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Silicon Area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737360"/>
            <a:ext cx="2377440" cy="1097280"/>
          </a:xfrm>
          <a:prstGeom prst="roundRect">
            <a:avLst/>
          </a:prstGeom>
          <a:solidFill>
            <a:srgbClr val="1428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96C7"/>
                </a:solidFill>
              </a:defRPr>
            </a:pPr>
            <a:r>
              <a:t>77 mW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Total Power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3200400"/>
          <a:ext cx="10515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59436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Energy Efficiency (GOPS/W)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1,662 GOPS/W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Area Efficiency (GOPS/mm²)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200 GOPS/mm²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Energy per MAC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0.30 pJ/MAC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Area per PE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2,500 µm²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PE Utilization (steady-state)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~92%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DRC / LVS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Clean ✓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Timing Closure (all corners)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MET ✓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Comparison with Prior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3736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2103120"/>
                <a:gridCol w="2286000"/>
                <a:gridCol w="24688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Google TPU v1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MIT Eyeriss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NVDLA (Small)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This Work</a:t>
                      </a:r>
                    </a:p>
                  </a:txBody>
                  <a:tcPr>
                    <a:solidFill>
                      <a:srgbClr val="1B4D8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28nm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65nm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Various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32nm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Array Size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256×256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12×14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Configurable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16×16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INT8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INT16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INT8/FP16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INT8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700 MHz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200 MHz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~500 MHz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500 MHz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Dataflow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Weight Stationary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Row Stationary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Weight Stationary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Weight Stationary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Peak Throughput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92 TOPS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~67 GOPS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Varies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128 GOPS</a:t>
                      </a:r>
                    </a:p>
                  </a:txBody>
                  <a:tcPr>
                    <a:solidFill>
                      <a:srgbClr val="122A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Scope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Commercial ASIC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Research Chip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IP Core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CCCCCC"/>
                          </a:solidFill>
                        </a:defRPr>
                      </a:pPr>
                      <a:r>
                        <a:t>Academic Design</a:t>
                      </a:r>
                    </a:p>
                  </a:txBody>
                  <a:tcPr>
                    <a:solidFill>
                      <a:srgbClr val="0F223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3035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While smaller in scale than commercial designs, this work demonstrates a complete RTL-to-GDSII flow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</a:defRPr>
            </a:pPr>
            <a:r>
              <a:t>•  Competitive energy efficiency (0.30 pJ/MAC) validates the architectural approach for scalable AI acceleration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Target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C7"/>
                </a:solidFill>
              </a:defRPr>
            </a:pPr>
            <a:r>
              <a:t>Primary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19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C7"/>
                </a:solidFill>
              </a:defRPr>
            </a:pPr>
            <a:r>
              <a:t>Extended 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Computer Vision — real-time image classification, object detection (YOLO, ResNet)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Natural Language Processing — edge speech recognition, text processing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Robotics — low-latency sensor fusion, autonomous navigation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Medical Imaging — CT/MRI analysis, real-time diagnostic assistance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Mobile / Edge AI — on-device inference for smartphones, IoT, wearables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Autonomous Vehicles — ADAS, lane detection, pedestrian recognition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Industrial — visual inspection, predictive maintenance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Cloud Inference — batch processing of DNN models in data centers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0515600" cy="914400"/>
          </a:xfrm>
          <a:prstGeom prst="roundRect">
            <a:avLst/>
          </a:prstGeom>
          <a:solidFill>
            <a:srgbClr val="142850"/>
          </a:solidFill>
          <a:ln w="12700">
            <a:solidFill>
              <a:srgbClr val="2A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0096C7"/>
                </a:solidFill>
              </a:defRPr>
            </a:pPr>
            <a:r>
              <a:t>INT8 systolic arrays are particularly effective for inference-only workloads where model weights are fixed and throughput/power efficiency are critical metrics.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20040"/>
            <a:ext cx="2011680" cy="347472"/>
          </a:xfrm>
          <a:prstGeom prst="roundRect">
            <a:avLst/>
          </a:prstGeom>
          <a:solidFill>
            <a:srgbClr val="1B4D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C7"/>
                </a:solidFill>
              </a:defRPr>
            </a:pPr>
            <a:r>
              <a:t>Short-Term Improvements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19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96C7"/>
                </a:solidFill>
              </a:defRPr>
            </a:pPr>
            <a:r>
              <a:t>Long-Term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Mixed Precision Support: INT4/INT8/INT16 for flexible quantization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Larger Array: Scale to 32×32 or 64×64 for higher throughput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Sparsity Support: Skip zero-value computations for 2-4× speedup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On-chip Activation Functions: Integrate ReLU, sigmoid, batch normalization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DMA Engine: Direct memory access for efficient data transfer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FPGA Prototyping: Validate design on FPGA before ASIC tapeout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Advanced Node Migration: Port to 7nm/5nm for 10× density improvement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Multi-Core Architecture: Array of systolic arrays with NoC interconnect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Reconfigurable Dataflow: Runtime-switchable WS/OS/RS modes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Transformer/Attention Support: Optimize for modern LLM architectures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AI Compiler Integration: Custom compiler for end-to-end deployment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</a:defRPr>
            </a:pPr>
            <a:r>
              <a:t>•  TinyML Applications: Optimize for ultra-low-power edge devices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097280"/>
            <a:ext cx="210312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10332720" cy="1188720"/>
          </a:xfrm>
          <a:prstGeom prst="roundRect">
            <a:avLst/>
          </a:prstGeom>
          <a:solidFill>
            <a:srgbClr val="142850"/>
          </a:solidFill>
          <a:ln w="1905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2600"/>
              </a:lnSpc>
              <a:defRPr sz="1700">
                <a:solidFill>
                  <a:srgbClr val="CCCCCC"/>
                </a:solidFill>
              </a:defRPr>
            </a:pPr>
            <a:r>
              <a:t>Successfully designed and implemented a pipelined 16×16 INT8 systolic-array AI accelerator in the SAED 32nm technology node, achieving 128 GOPS peak throughput at 500 MHz with only 77 mW power consumption and 0.64 mm² silicon area.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9875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✓  Complete RTL-to-GDSII flow demonstrated using industry-standard Synopsys EDA tools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✓  Timing closure achieved across all PVT corners (SS/TT/FF)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✓  Clean DRC and LVS verification — layout is fabrication-ready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✓  Functional correctness validated with 10,000+ test vectors against golden reference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✓  Competitive energy efficiency of 0.30 pJ/MAC and 1,662 GOPS/W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</a:defRPr>
            </a:pPr>
            <a:r>
              <a:t>✓  Scalable architecture — can be extended to larger arrays and advanced technology 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96C7"/>
                </a:solidFill>
              </a:defRPr>
            </a:pPr>
            <a:r>
              <a:t>Thank You!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CCCCC"/>
                </a:solidFill>
              </a:defRPr>
            </a:pPr>
            <a:r>
              <a:t>Questions &amp;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CCCCC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